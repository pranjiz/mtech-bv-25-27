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FB64C-BEAC-4EB7-A736-77FE12904FED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3AC2-5AC4-4E5F-A831-9BEB31BC08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FB64C-BEAC-4EB7-A736-77FE12904FED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3AC2-5AC4-4E5F-A831-9BEB31BC08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FB64C-BEAC-4EB7-A736-77FE12904FED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3AC2-5AC4-4E5F-A831-9BEB31BC08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FB64C-BEAC-4EB7-A736-77FE12904FED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3AC2-5AC4-4E5F-A831-9BEB31BC08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FB64C-BEAC-4EB7-A736-77FE12904FED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3AC2-5AC4-4E5F-A831-9BEB31BC08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FB64C-BEAC-4EB7-A736-77FE12904FED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3AC2-5AC4-4E5F-A831-9BEB31BC08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FB64C-BEAC-4EB7-A736-77FE12904FED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3AC2-5AC4-4E5F-A831-9BEB31BC08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FB64C-BEAC-4EB7-A736-77FE12904FED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3AC2-5AC4-4E5F-A831-9BEB31BC08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FB64C-BEAC-4EB7-A736-77FE12904FED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3AC2-5AC4-4E5F-A831-9BEB31BC08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FB64C-BEAC-4EB7-A736-77FE12904FED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3AC2-5AC4-4E5F-A831-9BEB31BC08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FB64C-BEAC-4EB7-A736-77FE12904FED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3AC2-5AC4-4E5F-A831-9BEB31BC08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FB64C-BEAC-4EB7-A736-77FE12904FED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43AC2-5AC4-4E5F-A831-9BEB31BC089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Multi vector processor and SIMD processor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449762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Arial Black" pitchFamily="34" charset="0"/>
                <a:cs typeface="Aharoni" pitchFamily="2" charset="-79"/>
              </a:rPr>
              <a:t>&gt;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multi-vector processor system, or Chip Multi-Vector Processor (CMVP), enhances computational performance by combining multiple vector processing units (PUs) or cores on a single chip, specifically targeting high-performance, parallel workloads like scientific simulation and image processing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latin typeface="Arial Black" pitchFamily="34" charset="0"/>
                <a:cs typeface="Times New Roman" pitchFamily="18" charset="0"/>
              </a:rPr>
              <a:t>&gt;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systems utilize shared vector caches and high-bandwidth memory to overcome bottlenecks associated with increased core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counts.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>
            <a:lum contrast="22000"/>
          </a:blip>
          <a:stretch>
            <a:fillRect/>
          </a:stretch>
        </p:blipFill>
        <p:spPr>
          <a:xfrm>
            <a:off x="400051" y="457200"/>
            <a:ext cx="8458199" cy="617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107" y="1393834"/>
            <a:ext cx="6779611" cy="38911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6187" y="991751"/>
            <a:ext cx="6323060" cy="38124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253" y="1257363"/>
            <a:ext cx="8141494" cy="5243449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b="1" dirty="0" smtClean="0"/>
              <a:t>Vector Multiprocessor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0"/>
            <a:ext cx="525779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/>
              <a:t>SIMD</a:t>
            </a:r>
            <a:r>
              <a:rPr sz="4000" b="1" spc="-110" dirty="0"/>
              <a:t> </a:t>
            </a:r>
            <a:r>
              <a:rPr sz="4000" b="1" spc="-10" dirty="0"/>
              <a:t>computers</a:t>
            </a:r>
            <a:endParaRPr sz="4000" b="1"/>
          </a:p>
        </p:txBody>
      </p:sp>
      <p:sp>
        <p:nvSpPr>
          <p:cNvPr id="3" name="object 3"/>
          <p:cNvSpPr txBox="1"/>
          <p:nvPr/>
        </p:nvSpPr>
        <p:spPr>
          <a:xfrm>
            <a:off x="219761" y="1025285"/>
            <a:ext cx="8754904" cy="533287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40029" indent="-227329" algn="just">
              <a:lnSpc>
                <a:spcPct val="150000"/>
              </a:lnSpc>
              <a:spcBef>
                <a:spcPts val="8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SIMD means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single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instruction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stream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stream.</a:t>
            </a:r>
            <a:endParaRPr sz="240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5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processors.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elements</a:t>
            </a:r>
            <a:r>
              <a:rPr sz="2400" spc="-25">
                <a:latin typeface="Times New Roman"/>
                <a:cs typeface="Times New Roman"/>
              </a:rPr>
              <a:t> </a:t>
            </a:r>
            <a:r>
              <a:rPr sz="2400" spc="-10" smtClean="0">
                <a:latin typeface="Times New Roman"/>
                <a:cs typeface="Times New Roman"/>
              </a:rPr>
              <a:t>which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sz="2400" smtClean="0">
                <a:latin typeface="Times New Roman"/>
                <a:cs typeface="Times New Roman"/>
              </a:rPr>
              <a:t>are</a:t>
            </a:r>
            <a:r>
              <a:rPr sz="2400" spc="-10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supervised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</a:t>
            </a:r>
            <a:r>
              <a:rPr sz="2400">
                <a:latin typeface="Times New Roman"/>
                <a:cs typeface="Times New Roman"/>
              </a:rPr>
              <a:t>.</a:t>
            </a:r>
            <a:r>
              <a:rPr sz="2400" spc="-15">
                <a:latin typeface="Times New Roman"/>
                <a:cs typeface="Times New Roman"/>
              </a:rPr>
              <a:t> </a:t>
            </a:r>
            <a:endParaRPr lang="en-US" sz="2400" spc="-15" dirty="0" smtClean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5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mtClean="0">
                <a:latin typeface="Times New Roman"/>
                <a:cs typeface="Times New Roman"/>
              </a:rPr>
              <a:t>Each</a:t>
            </a:r>
            <a:r>
              <a:rPr sz="2400" spc="-15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same </a:t>
            </a:r>
            <a:r>
              <a:rPr sz="2400" dirty="0">
                <a:latin typeface="Times New Roman"/>
                <a:cs typeface="Times New Roman"/>
              </a:rPr>
              <a:t>instruction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different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distinct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module.</a:t>
            </a:r>
            <a:endParaRPr sz="240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SIMD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computers,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‘N’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processors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processors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5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individual</a:t>
            </a:r>
            <a:r>
              <a:rPr sz="2400" spc="5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memory</a:t>
            </a:r>
            <a:r>
              <a:rPr sz="2400" spc="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units</a:t>
            </a:r>
            <a:r>
              <a:rPr sz="2400">
                <a:latin typeface="Times New Roman"/>
                <a:cs typeface="Times New Roman"/>
              </a:rPr>
              <a:t>.</a:t>
            </a:r>
            <a:r>
              <a:rPr sz="2400" spc="575">
                <a:latin typeface="Times New Roman"/>
                <a:cs typeface="Times New Roman"/>
              </a:rPr>
              <a:t> </a:t>
            </a:r>
            <a:endParaRPr lang="en-US" sz="2400" spc="575" dirty="0" smtClean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mtClean="0">
                <a:latin typeface="Times New Roman"/>
                <a:cs typeface="Times New Roman"/>
              </a:rPr>
              <a:t>All</a:t>
            </a:r>
            <a:r>
              <a:rPr sz="2400" spc="585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processors</a:t>
            </a:r>
            <a:r>
              <a:rPr sz="2400" spc="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5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5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 	</a:t>
            </a:r>
            <a:r>
              <a:rPr sz="2400" dirty="0">
                <a:latin typeface="Times New Roman"/>
                <a:cs typeface="Times New Roman"/>
              </a:rPr>
              <a:t>interconnection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network.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"/>
            <a:ext cx="9144000" cy="631006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spcBef>
                <a:spcPts val="805"/>
              </a:spcBef>
            </a:pPr>
            <a:r>
              <a:rPr sz="2400" b="1" dirty="0">
                <a:latin typeface="Times New Roman"/>
                <a:cs typeface="Times New Roman"/>
              </a:rPr>
              <a:t>SIMD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Machine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Model</a:t>
            </a:r>
            <a:endParaRPr sz="2400">
              <a:latin typeface="Times New Roman"/>
              <a:cs typeface="Times New Roman"/>
            </a:endParaRPr>
          </a:p>
          <a:p>
            <a:pPr marL="88900" marR="1316355" indent="-17145">
              <a:spcBef>
                <a:spcPts val="229"/>
              </a:spcBef>
            </a:pP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by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 smtClean="0">
                <a:latin typeface="Times New Roman"/>
                <a:cs typeface="Times New Roman"/>
              </a:rPr>
              <a:t>5</a:t>
            </a:r>
            <a:r>
              <a:rPr lang="en-US" sz="2400" dirty="0" smtClean="0">
                <a:latin typeface="Times New Roman"/>
                <a:cs typeface="Times New Roman"/>
              </a:rPr>
              <a:t> </a:t>
            </a:r>
            <a:r>
              <a:rPr sz="2400" spc="-10" smtClean="0">
                <a:latin typeface="Times New Roman"/>
                <a:cs typeface="Times New Roman"/>
              </a:rPr>
              <a:t>Triple</a:t>
            </a:r>
            <a:r>
              <a:rPr sz="2400" spc="-10">
                <a:latin typeface="Times New Roman"/>
                <a:cs typeface="Times New Roman"/>
              </a:rPr>
              <a:t>. </a:t>
            </a:r>
            <a:r>
              <a:rPr lang="en-US" sz="2400" spc="-10" dirty="0" smtClean="0">
                <a:latin typeface="Times New Roman"/>
                <a:cs typeface="Times New Roman"/>
              </a:rPr>
              <a:t>                </a:t>
            </a:r>
            <a:r>
              <a:rPr sz="2400" smtClean="0">
                <a:latin typeface="Times New Roman"/>
                <a:cs typeface="Times New Roman"/>
              </a:rPr>
              <a:t>[</a:t>
            </a:r>
            <a:r>
              <a:rPr sz="2400" spc="-15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R]</a:t>
            </a:r>
            <a:endParaRPr sz="240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  <a:spcBef>
                <a:spcPts val="470"/>
              </a:spcBef>
            </a:pPr>
            <a:r>
              <a:rPr sz="2000" spc="-10" dirty="0">
                <a:latin typeface="Times New Roman"/>
                <a:cs typeface="Times New Roman"/>
              </a:rPr>
              <a:t>Where</a:t>
            </a:r>
            <a:endParaRPr sz="2000">
              <a:latin typeface="Times New Roman"/>
              <a:cs typeface="Times New Roman"/>
            </a:endParaRPr>
          </a:p>
          <a:p>
            <a:pPr marL="519430" indent="-430530">
              <a:lnSpc>
                <a:spcPct val="100000"/>
              </a:lnSpc>
              <a:spcBef>
                <a:spcPts val="710"/>
              </a:spcBef>
              <a:buFont typeface="Arial" pitchFamily="34" charset="0"/>
              <a:buChar char="•"/>
              <a:tabLst>
                <a:tab pos="519430" algn="l"/>
              </a:tabLst>
            </a:pPr>
            <a:r>
              <a:rPr sz="2400" b="1" dirty="0">
                <a:latin typeface="Times New Roman"/>
                <a:cs typeface="Times New Roman"/>
              </a:rPr>
              <a:t>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(PEs)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machine.</a:t>
            </a:r>
            <a:endParaRPr sz="2400">
              <a:latin typeface="Times New Roman"/>
              <a:cs typeface="Times New Roman"/>
            </a:endParaRPr>
          </a:p>
          <a:p>
            <a:pPr marL="12700" marR="116205" indent="506730">
              <a:lnSpc>
                <a:spcPct val="124600"/>
              </a:lnSpc>
              <a:spcBef>
                <a:spcPts val="10"/>
              </a:spcBef>
              <a:buFont typeface="Arial" pitchFamily="34" charset="0"/>
              <a:buChar char="•"/>
              <a:tabLst>
                <a:tab pos="519430" algn="l"/>
              </a:tabLst>
            </a:pPr>
            <a:r>
              <a:rPr sz="2400" b="1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instructions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control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scalar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instructions.</a:t>
            </a:r>
            <a:endParaRPr sz="2400">
              <a:latin typeface="Times New Roman"/>
              <a:cs typeface="Times New Roman"/>
            </a:endParaRPr>
          </a:p>
          <a:p>
            <a:pPr marL="519430" indent="-430530">
              <a:lnSpc>
                <a:spcPct val="100000"/>
              </a:lnSpc>
              <a:spcBef>
                <a:spcPts val="710"/>
              </a:spcBef>
              <a:buFont typeface="Arial" pitchFamily="34" charset="0"/>
              <a:buChar char="•"/>
              <a:tabLst>
                <a:tab pos="519430" algn="l"/>
              </a:tabLst>
            </a:pPr>
            <a:r>
              <a:rPr sz="2400" b="1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instructions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broadcast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CPU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parallel</a:t>
            </a:r>
            <a:r>
              <a:rPr sz="2400" spc="-50">
                <a:latin typeface="Times New Roman"/>
                <a:cs typeface="Times New Roman"/>
              </a:rPr>
              <a:t> </a:t>
            </a:r>
            <a:r>
              <a:rPr sz="2400" spc="-10" smtClean="0">
                <a:latin typeface="Times New Roman"/>
                <a:cs typeface="Times New Roman"/>
              </a:rPr>
              <a:t>execution.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sz="2400" smtClean="0">
                <a:latin typeface="Times New Roman"/>
                <a:cs typeface="Times New Roman"/>
              </a:rPr>
              <a:t>These</a:t>
            </a:r>
            <a:r>
              <a:rPr sz="2400" spc="-15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arithmetic,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masking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other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operations </a:t>
            </a:r>
            <a:r>
              <a:rPr sz="2400" dirty="0">
                <a:latin typeface="Times New Roman"/>
                <a:cs typeface="Times New Roman"/>
              </a:rPr>
              <a:t>executed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each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 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PE.</a:t>
            </a:r>
            <a:endParaRPr sz="2400">
              <a:latin typeface="Times New Roman"/>
              <a:cs typeface="Times New Roman"/>
            </a:endParaRPr>
          </a:p>
          <a:p>
            <a:pPr marL="520700" indent="-431800">
              <a:lnSpc>
                <a:spcPct val="100000"/>
              </a:lnSpc>
              <a:spcBef>
                <a:spcPts val="710"/>
              </a:spcBef>
              <a:buFont typeface="Arial" pitchFamily="34" charset="0"/>
              <a:buChar char="•"/>
              <a:tabLst>
                <a:tab pos="520700" algn="l"/>
              </a:tabLst>
            </a:pPr>
            <a:r>
              <a:rPr sz="2400" b="1" dirty="0">
                <a:latin typeface="Times New Roman"/>
                <a:cs typeface="Times New Roman"/>
              </a:rPr>
              <a:t>M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masking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schemes,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mask partitions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>
                <a:latin typeface="Times New Roman"/>
                <a:cs typeface="Times New Roman"/>
              </a:rPr>
              <a:t>of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 spc="-25" smtClean="0">
                <a:latin typeface="Times New Roman"/>
                <a:cs typeface="Times New Roman"/>
              </a:rPr>
              <a:t>P</a:t>
            </a:r>
            <a:r>
              <a:rPr lang="en-US" sz="2400" spc="-25" dirty="0">
                <a:latin typeface="Times New Roman"/>
                <a:cs typeface="Times New Roman"/>
              </a:rPr>
              <a:t>E</a:t>
            </a:r>
            <a:r>
              <a:rPr sz="2400" spc="-25" smtClean="0">
                <a:latin typeface="Times New Roman"/>
                <a:cs typeface="Times New Roman"/>
              </a:rPr>
              <a:t>s</a:t>
            </a:r>
            <a:r>
              <a:rPr lang="en-US" sz="2400" spc="-25" dirty="0" smtClean="0">
                <a:latin typeface="Times New Roman"/>
                <a:cs typeface="Times New Roman"/>
              </a:rPr>
              <a:t> </a:t>
            </a:r>
            <a:r>
              <a:rPr sz="2400" smtClean="0">
                <a:latin typeface="Times New Roman"/>
                <a:cs typeface="Times New Roman"/>
              </a:rPr>
              <a:t>into</a:t>
            </a:r>
            <a:r>
              <a:rPr sz="2400" spc="-25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enabled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disabled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subsets.</a:t>
            </a:r>
            <a:endParaRPr sz="2400">
              <a:latin typeface="Times New Roman"/>
              <a:cs typeface="Times New Roman"/>
            </a:endParaRPr>
          </a:p>
          <a:p>
            <a:pPr marL="12700" marR="5080" indent="506730">
              <a:lnSpc>
                <a:spcPct val="124600"/>
              </a:lnSpc>
              <a:buFont typeface="Arial" pitchFamily="34" charset="0"/>
              <a:buChar char="•"/>
              <a:tabLst>
                <a:tab pos="519430" algn="l"/>
              </a:tabLst>
            </a:pPr>
            <a:r>
              <a:rPr sz="2400" b="1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specifying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various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up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 inter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</a:t>
            </a:r>
            <a:r>
              <a:rPr sz="2400" spc="-10" dirty="0">
                <a:latin typeface="Times New Roman"/>
                <a:cs typeface="Times New Roman"/>
              </a:rPr>
              <a:t> communications.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0"/>
            <a:ext cx="8229600" cy="987885"/>
          </a:xfrm>
          <a:prstGeom prst="rect">
            <a:avLst/>
          </a:prstGeom>
        </p:spPr>
        <p:txBody>
          <a:bodyPr vert="horz" wrap="square" lIns="0" tIns="36873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/>
              <a:t>SIMD</a:t>
            </a:r>
            <a:r>
              <a:rPr sz="4000" spc="-75"/>
              <a:t> </a:t>
            </a:r>
            <a:r>
              <a:rPr sz="4000" spc="-10" smtClean="0"/>
              <a:t>Computer</a:t>
            </a:r>
            <a:endParaRPr sz="4000"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148" y="1143001"/>
            <a:ext cx="7455452" cy="5486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563562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SIMD Computer organization</a:t>
            </a:r>
            <a:endParaRPr lang="en-US"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899160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vector processing can also be carried out using SIMD computers.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Most SIMD computers uses a single control unit and distributed memories, except for a few that uses associative memory.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Associative memory search the content directly instead of searching the memory address.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processing elements (PEs) in the SIMD computers are passive ALUs executing instructions broadcast from the control unit.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/>
              <a:t>Passive ALU vs. Active CPU</a:t>
            </a:r>
          </a:p>
          <a:p>
            <a:r>
              <a:rPr lang="en-US" b="1" dirty="0" smtClean="0"/>
              <a:t>Active ALU (Standard CPU):</a:t>
            </a:r>
            <a:r>
              <a:rPr lang="en-US" dirty="0" smtClean="0"/>
              <a:t> Independently fetches, decodes, and executes its own instructions.</a:t>
            </a:r>
          </a:p>
          <a:p>
            <a:r>
              <a:rPr lang="en-US" b="1" dirty="0" smtClean="0"/>
              <a:t>Passive ALU (SIMD):</a:t>
            </a:r>
            <a:r>
              <a:rPr lang="en-US" dirty="0" smtClean="0"/>
              <a:t> Executes only what it is told to do by the controller. This design allows for a much higher number of PEs on a chip because the complex control logic is removed from each PE and </a:t>
            </a:r>
            <a:r>
              <a:rPr lang="en-US" dirty="0" smtClean="0"/>
              <a:t>centralized.</a:t>
            </a:r>
            <a:endParaRPr lang="en-US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334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Distributed memory model of SIMD computer</a:t>
            </a:r>
            <a:endParaRPr 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685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distributed memory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SIMD computer consists of an array of processing elements which are controlled by the single array control unit.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752600"/>
            <a:ext cx="8758767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28600"/>
            <a:ext cx="9144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program and data are loaded into the control memory through the host computer.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instruction is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sent to the control unit for decoding. If it is a scalar or program control operation, it will be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directly executed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by a scalar processor attached to the control unit.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decoded instruction is 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vector operation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it will be broadcast to all the PEs for parallel execution. The partitioned data sets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 distributed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all the local memories attached to the PEs through a vector data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bus.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 interconnected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by a data routing network which performs inter PE data communications such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 shifting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permutation and other routing operations.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routing network is under program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control through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control unit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masking logic is provided to enable or disable any PE from an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participation in a given instruction cycle.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3810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Shared memory model of SIMD computer</a:t>
            </a:r>
            <a:endParaRPr lang="en-US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981200"/>
            <a:ext cx="838200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 alignment network is used as the inter PE memory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communication network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alignment network must properly set to avoid access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conflicts.</a:t>
            </a:r>
          </a:p>
          <a:p>
            <a:pPr algn="just">
              <a:buFont typeface="Arial" pitchFamily="34" charset="0"/>
              <a:buChar char="•"/>
            </a:pP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SIMD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instructions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SIMD computers can execute vector instructions for arithmetic, logic, data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routing and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masking operations over vector quantities.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bit slice SIMD machines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vectors are nothing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but binary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vectors.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word-parallel SIMD machines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the vector components are 4 or 8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byte numerical values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SIMD instructions must use vector operands of equal length n, where n is the number of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Pes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The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functions used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 SIMD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are permutations, broadcasts, multicasts, rotate and shift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operations.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HOST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and I/O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All I/O activities are handled by the host computer in the SIMD organizations. 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special control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memory is used between the host and the array control unit. The data sets are distributed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 the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local memories or to the shared memory modules before starting of the program execution.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host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manages the mass storage and graphics display of computational results. </a:t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576</Words>
  <Application>Microsoft Office PowerPoint</Application>
  <PresentationFormat>On-screen Show (4:3)</PresentationFormat>
  <Paragraphs>45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Multi vector processor and SIMD processor</vt:lpstr>
      <vt:lpstr>&gt;A multi-vector processor system, or Chip Multi-Vector Processor (CMVP), enhances computational performance by combining multiple vector processing units (PUs) or cores on a single chip, specifically targeting high-performance, parallel workloads like scientific simulation and image processing.   &gt;These systems utilize shared vector caches and high-bandwidth memory to overcome bottlenecks associated with increased core counts.</vt:lpstr>
      <vt:lpstr>Slide 3</vt:lpstr>
      <vt:lpstr>Slide 4</vt:lpstr>
      <vt:lpstr>Slide 5</vt:lpstr>
      <vt:lpstr>Vector Multiprocessor</vt:lpstr>
      <vt:lpstr>SIMD computers</vt:lpstr>
      <vt:lpstr>Slide 8</vt:lpstr>
      <vt:lpstr>SIMD Computer</vt:lpstr>
      <vt:lpstr>SIMD Computer organization</vt:lpstr>
      <vt:lpstr>Distributed memory model of SIMD computer</vt:lpstr>
      <vt:lpstr>Slide 12</vt:lpstr>
      <vt:lpstr>Shared memory model of SIMD computer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Multi-vector processor and SIMD Processor</dc:title>
  <dc:creator>kanwal</dc:creator>
  <cp:lastModifiedBy>kanwal</cp:lastModifiedBy>
  <cp:revision>17</cp:revision>
  <dcterms:created xsi:type="dcterms:W3CDTF">2026-01-24T02:47:40Z</dcterms:created>
  <dcterms:modified xsi:type="dcterms:W3CDTF">2026-01-29T05:51:47Z</dcterms:modified>
</cp:coreProperties>
</file>